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9" r:id="rId14"/>
    <p:sldId id="271" r:id="rId15"/>
    <p:sldId id="270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8" autoAdjust="0"/>
    <p:restoredTop sz="94660"/>
  </p:normalViewPr>
  <p:slideViewPr>
    <p:cSldViewPr snapToGrid="0">
      <p:cViewPr>
        <p:scale>
          <a:sx n="75" d="100"/>
          <a:sy n="75" d="100"/>
        </p:scale>
        <p:origin x="86" y="8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0752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320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0758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159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903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49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94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8178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59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E6DA-86C2-4D29-957B-BF902C7620ED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D8BCB-4A4B-4E3A-A9DE-566F21D990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470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562E6DA-86C2-4D29-957B-BF902C7620ED}" type="datetimeFigureOut">
              <a:rPr lang="en-US" smtClean="0"/>
              <a:pPr/>
              <a:t>2/24/2026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71D8BCB-4A4B-4E3A-A9DE-566F21D99081}" type="slidenum">
              <a:rPr lang="en-US" smtClean="0"/>
              <a:pPr/>
              <a:t>‹#›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9927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AD64E-B067-BD9E-583B-DA11B2DA72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Intro to Git and GitHub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6F32A-A5B1-F0D5-0CEF-FF86449260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Hands-on Workshop</a:t>
            </a:r>
          </a:p>
        </p:txBody>
      </p:sp>
    </p:spTree>
    <p:extLst>
      <p:ext uri="{BB962C8B-B14F-4D97-AF65-F5344CB8AC3E}">
        <p14:creationId xmlns:p14="http://schemas.microsoft.com/office/powerpoint/2010/main" val="3374283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791E0-9EA8-6C7D-E226-811B75CE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B85FF-422E-39B5-6830-4B7C92476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Git and GitHub?</a:t>
            </a:r>
          </a:p>
          <a:p>
            <a:r>
              <a:rPr lang="en-US" dirty="0"/>
              <a:t>Part 1: Basic Flow</a:t>
            </a:r>
          </a:p>
          <a:p>
            <a:pPr lvl="1"/>
            <a:r>
              <a:rPr lang="en-US" dirty="0"/>
              <a:t>Using Git and GitHub for a solo project</a:t>
            </a:r>
          </a:p>
          <a:p>
            <a:pPr lvl="1"/>
            <a:r>
              <a:rPr lang="en-US" dirty="0"/>
              <a:t>Hands-on exercise</a:t>
            </a:r>
          </a:p>
          <a:p>
            <a:r>
              <a:rPr lang="en-US" dirty="0"/>
              <a:t>Part 2: Pull Requests</a:t>
            </a:r>
          </a:p>
          <a:p>
            <a:pPr lvl="1"/>
            <a:r>
              <a:rPr lang="en-US" dirty="0"/>
              <a:t>Using Git and GitHub with multiple people</a:t>
            </a:r>
          </a:p>
          <a:p>
            <a:pPr lvl="1"/>
            <a:r>
              <a:rPr lang="en-US" dirty="0"/>
              <a:t>Hands-on exercise</a:t>
            </a:r>
          </a:p>
        </p:txBody>
      </p:sp>
    </p:spTree>
    <p:extLst>
      <p:ext uri="{BB962C8B-B14F-4D97-AF65-F5344CB8AC3E}">
        <p14:creationId xmlns:p14="http://schemas.microsoft.com/office/powerpoint/2010/main" val="6603480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F5C5-D48A-6060-25DC-1A148DCC1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EACC0-A068-4184-A3FD-9D6626800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8010F-BAED-F01F-F8D6-7DF7C2643A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Git?</a:t>
            </a:r>
          </a:p>
          <a:p>
            <a:r>
              <a:rPr lang="en-US" dirty="0"/>
              <a:t>Version control system</a:t>
            </a:r>
          </a:p>
          <a:p>
            <a:r>
              <a:rPr lang="en-US" dirty="0"/>
              <a:t>Track changes over time</a:t>
            </a:r>
          </a:p>
          <a:p>
            <a:r>
              <a:rPr lang="en-US" dirty="0"/>
              <a:t>Create multiple branches to “experiment”</a:t>
            </a:r>
          </a:p>
          <a:p>
            <a:r>
              <a:rPr lang="en-US" dirty="0"/>
              <a:t>Easily roll back to previous versions</a:t>
            </a:r>
          </a:p>
          <a:p>
            <a:r>
              <a:rPr lang="en-US" dirty="0"/>
              <a:t>Merge changes from other people</a:t>
            </a:r>
          </a:p>
          <a:p>
            <a:r>
              <a:rPr lang="en-US" dirty="0"/>
              <a:t>Made by the person who created Linux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933B4B-F36D-91DC-EC2A-0B393B6020F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GitHub?</a:t>
            </a:r>
          </a:p>
          <a:p>
            <a:r>
              <a:rPr lang="en-US" dirty="0"/>
              <a:t>Online platform that hosts Git repositories</a:t>
            </a:r>
          </a:p>
          <a:p>
            <a:r>
              <a:rPr lang="en-US" dirty="0"/>
              <a:t>Share and collaborate on projects</a:t>
            </a:r>
          </a:p>
          <a:p>
            <a:r>
              <a:rPr lang="en-US" dirty="0"/>
              <a:t>Popular for hosting open source projects</a:t>
            </a:r>
          </a:p>
          <a:p>
            <a:r>
              <a:rPr lang="en-US" dirty="0"/>
              <a:t>Automation features (advanced stuff we won’t get into)</a:t>
            </a:r>
          </a:p>
        </p:txBody>
      </p:sp>
    </p:spTree>
    <p:extLst>
      <p:ext uri="{BB962C8B-B14F-4D97-AF65-F5344CB8AC3E}">
        <p14:creationId xmlns:p14="http://schemas.microsoft.com/office/powerpoint/2010/main" val="28817138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5F25DB-773D-8CF3-62DF-C44157F6A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3A9AE0F-1D14-93B9-441C-D0A527287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Basic Flow</a:t>
            </a:r>
          </a:p>
        </p:txBody>
      </p:sp>
    </p:spTree>
    <p:extLst>
      <p:ext uri="{BB962C8B-B14F-4D97-AF65-F5344CB8AC3E}">
        <p14:creationId xmlns:p14="http://schemas.microsoft.com/office/powerpoint/2010/main" val="11688737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09D91-55B1-B21E-0742-E5CFC26E6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A8843-4395-643C-29D0-61D90EDC0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66672-8F68-7634-EA60-224E1785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886" y="1207634"/>
            <a:ext cx="2935514" cy="29355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EEDD46-6075-1780-696E-3BB6B35945D6}"/>
              </a:ext>
            </a:extLst>
          </p:cNvPr>
          <p:cNvSpPr txBox="1"/>
          <p:nvPr/>
        </p:nvSpPr>
        <p:spPr>
          <a:xfrm>
            <a:off x="1760688" y="3988410"/>
            <a:ext cx="23903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my-repo/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.git/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│   └── ...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README.md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source/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└── hello.py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35B398-68CC-FA82-DD66-F6AE532D5F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065" y="3790836"/>
            <a:ext cx="704623" cy="70462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C372DCD-F05A-8F0E-9B7D-095A96163E54}"/>
              </a:ext>
            </a:extLst>
          </p:cNvPr>
          <p:cNvSpPr txBox="1"/>
          <p:nvPr/>
        </p:nvSpPr>
        <p:spPr>
          <a:xfrm>
            <a:off x="5631546" y="1567763"/>
            <a:ext cx="51961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 repository (“repo”) is a folder on your computer that is under version control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66EEF7-FF34-C5C4-B8D5-9F15D970D393}"/>
              </a:ext>
            </a:extLst>
          </p:cNvPr>
          <p:cNvSpPr txBox="1"/>
          <p:nvPr/>
        </p:nvSpPr>
        <p:spPr>
          <a:xfrm>
            <a:off x="5631546" y="3195708"/>
            <a:ext cx="51961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Git adds a special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.git/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folder that stores information about the repo and tracks changes.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Don’t mess with the contents of this folder!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742AD-D680-516D-B53C-7E9E605CB863}"/>
              </a:ext>
            </a:extLst>
          </p:cNvPr>
          <p:cNvSpPr txBox="1"/>
          <p:nvPr/>
        </p:nvSpPr>
        <p:spPr>
          <a:xfrm>
            <a:off x="5631546" y="5140014"/>
            <a:ext cx="51961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Add, modify, delete anything else in this directory (code files, CAD files, README, etc.)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264F331-6A3D-3581-67FA-7C113FB43B2E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3063240" y="2167928"/>
            <a:ext cx="2568306" cy="1828000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08F711E-90F9-791D-5E08-AEB749D02F65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3163824" y="3980538"/>
            <a:ext cx="2467722" cy="454302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43BF498-7EA4-DB4B-E4A9-410BD0E83CCB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4251670" y="5219670"/>
            <a:ext cx="1379876" cy="520509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8348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0B50F-EB8A-A6E1-39F4-49AE2C26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8C547-9C12-6B76-3852-260CD8AB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5AFDB2-06CA-0FD9-BFF7-7E44C6032B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886" y="1207634"/>
            <a:ext cx="2935514" cy="29355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37E5B3D-EFBD-F3E8-0D2E-930B0CBE2454}"/>
              </a:ext>
            </a:extLst>
          </p:cNvPr>
          <p:cNvSpPr txBox="1"/>
          <p:nvPr/>
        </p:nvSpPr>
        <p:spPr>
          <a:xfrm>
            <a:off x="1760688" y="3988410"/>
            <a:ext cx="23903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my-repo/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.git/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│   └── ...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README.md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source/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└── hello.py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AF4B180-D68B-814D-62DD-3501ABF49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065" y="3790836"/>
            <a:ext cx="704623" cy="70462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648F16B-204E-12B9-38B0-B4029F931A0C}"/>
              </a:ext>
            </a:extLst>
          </p:cNvPr>
          <p:cNvSpPr txBox="1"/>
          <p:nvPr/>
        </p:nvSpPr>
        <p:spPr>
          <a:xfrm>
            <a:off x="5631546" y="376637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When you’re ready, create a snapshot of the current project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4242C6-1D10-85B8-DE63-A1B3C1365FDE}"/>
              </a:ext>
            </a:extLst>
          </p:cNvPr>
          <p:cNvSpPr txBox="1"/>
          <p:nvPr/>
        </p:nvSpPr>
        <p:spPr>
          <a:xfrm>
            <a:off x="6096000" y="3073500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All files: 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add --all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7E4D5-628E-4153-D48F-A751695F152C}"/>
              </a:ext>
            </a:extLst>
          </p:cNvPr>
          <p:cNvSpPr txBox="1"/>
          <p:nvPr/>
        </p:nvSpPr>
        <p:spPr>
          <a:xfrm>
            <a:off x="6096000" y="2237874"/>
            <a:ext cx="59264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Single file: 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add source/hello.py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ACE33-CDF9-628D-74C6-9B0758581A72}"/>
              </a:ext>
            </a:extLst>
          </p:cNvPr>
          <p:cNvSpPr txBox="1"/>
          <p:nvPr/>
        </p:nvSpPr>
        <p:spPr>
          <a:xfrm>
            <a:off x="5631546" y="1295037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Step 1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select which files you want to  include in the snapshot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EEC2A7-5658-5D87-2C09-11D2349D3078}"/>
              </a:ext>
            </a:extLst>
          </p:cNvPr>
          <p:cNvSpPr txBox="1"/>
          <p:nvPr/>
        </p:nvSpPr>
        <p:spPr>
          <a:xfrm>
            <a:off x="5631546" y="4028938"/>
            <a:ext cx="5196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Step 2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save the snapshot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CFECB-4285-F133-A1E2-211209A049A9}"/>
              </a:ext>
            </a:extLst>
          </p:cNvPr>
          <p:cNvSpPr txBox="1"/>
          <p:nvPr/>
        </p:nvSpPr>
        <p:spPr>
          <a:xfrm>
            <a:off x="6096000" y="4490603"/>
            <a:ext cx="5524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–m "I changed... 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1D818-AA8D-D7FE-1D8E-151E6D8F5436}"/>
              </a:ext>
            </a:extLst>
          </p:cNvPr>
          <p:cNvSpPr txBox="1"/>
          <p:nvPr/>
        </p:nvSpPr>
        <p:spPr>
          <a:xfrm>
            <a:off x="6096000" y="4976404"/>
            <a:ext cx="51961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Your snapshot is saved locally and can be referred to by the commit hash. View with history with: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log</a:t>
            </a:r>
          </a:p>
        </p:txBody>
      </p:sp>
    </p:spTree>
    <p:extLst>
      <p:ext uri="{BB962C8B-B14F-4D97-AF65-F5344CB8AC3E}">
        <p14:creationId xmlns:p14="http://schemas.microsoft.com/office/powerpoint/2010/main" val="21372513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" grpId="0"/>
      <p:bldP spid="4" grpId="0"/>
      <p:bldP spid="5" grpId="0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259C2-A5D5-CECA-7A51-45C87670C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88469-9DCD-31D1-4236-98FF878C8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F250EC-4B73-4B3D-24E9-C3709F884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886" y="1207634"/>
            <a:ext cx="2935514" cy="29355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1E83B10-1B39-851A-DE39-7F8A4EF4C579}"/>
              </a:ext>
            </a:extLst>
          </p:cNvPr>
          <p:cNvSpPr txBox="1"/>
          <p:nvPr/>
        </p:nvSpPr>
        <p:spPr>
          <a:xfrm>
            <a:off x="1760688" y="3988410"/>
            <a:ext cx="23903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my-repo/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.git/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│   └── ...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├── README.md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source/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└── hello.py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ED3ED06-5743-3A35-3E9E-80B0C5DF5B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065" y="3790836"/>
            <a:ext cx="704623" cy="7046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5FA331-4F6F-14EA-926A-938777C5A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3268" y="1684553"/>
            <a:ext cx="2106283" cy="210628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CDEEA4-1F80-0E08-2DD3-4FF9C6E2DD1D}"/>
              </a:ext>
            </a:extLst>
          </p:cNvPr>
          <p:cNvCxnSpPr>
            <a:cxnSpLocks/>
          </p:cNvCxnSpPr>
          <p:nvPr/>
        </p:nvCxnSpPr>
        <p:spPr>
          <a:xfrm>
            <a:off x="3683479" y="2639683"/>
            <a:ext cx="1630393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7CCD155-54B7-6DC3-A4C4-E471AEBD49E9}"/>
              </a:ext>
            </a:extLst>
          </p:cNvPr>
          <p:cNvSpPr txBox="1"/>
          <p:nvPr/>
        </p:nvSpPr>
        <p:spPr>
          <a:xfrm>
            <a:off x="5631546" y="4495459"/>
            <a:ext cx="51961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Push your changes to GitHub: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DB8531-3EAD-9350-DA80-A0B8FA694529}"/>
              </a:ext>
            </a:extLst>
          </p:cNvPr>
          <p:cNvSpPr txBox="1"/>
          <p:nvPr/>
        </p:nvSpPr>
        <p:spPr>
          <a:xfrm>
            <a:off x="5626031" y="1350502"/>
            <a:ext cx="1740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4986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B5474-AB50-4D0E-7C42-CE3A12F56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DEFDB-C075-F815-57FC-395BEB29B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Exercises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FE6CD-8E5D-2480-D454-DCDADC7D0A1F}"/>
              </a:ext>
            </a:extLst>
          </p:cNvPr>
          <p:cNvSpPr txBox="1"/>
          <p:nvPr/>
        </p:nvSpPr>
        <p:spPr>
          <a:xfrm>
            <a:off x="424132" y="2890391"/>
            <a:ext cx="1134373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Follow the README instructions here: </a:t>
            </a: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github.com/ShawnHymel/workshop-intro-to-git-and-github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091716-3D95-8EDE-D749-EEA6FFFF51FD}"/>
              </a:ext>
            </a:extLst>
          </p:cNvPr>
          <p:cNvSpPr txBox="1"/>
          <p:nvPr/>
        </p:nvSpPr>
        <p:spPr>
          <a:xfrm>
            <a:off x="424132" y="4628703"/>
            <a:ext cx="113437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Do:</a:t>
            </a:r>
            <a:endParaRPr lang="en-US" sz="32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 exercise 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 1-3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3326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DADC1-CDCB-A3B1-6254-DA6485ECA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2208333-37E3-3361-56C6-F4F10FC37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7C32FA-195F-874F-6C02-3DFB553E79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Revert a Change</a:t>
            </a:r>
          </a:p>
        </p:txBody>
      </p:sp>
    </p:spTree>
    <p:extLst>
      <p:ext uri="{BB962C8B-B14F-4D97-AF65-F5344CB8AC3E}">
        <p14:creationId xmlns:p14="http://schemas.microsoft.com/office/powerpoint/2010/main" val="7544221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E672A-83E9-8ED7-C247-E271C55E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175F-5CA1-487C-FD06-6AAC26AF2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592C5-3600-4059-4FC6-6B42702B66AC}"/>
              </a:ext>
            </a:extLst>
          </p:cNvPr>
          <p:cNvCxnSpPr>
            <a:cxnSpLocks/>
          </p:cNvCxnSpPr>
          <p:nvPr/>
        </p:nvCxnSpPr>
        <p:spPr>
          <a:xfrm flipH="1">
            <a:off x="3804020" y="3799159"/>
            <a:ext cx="4899660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A82D02ED-8859-C497-AA88-929B0A29C929}"/>
              </a:ext>
            </a:extLst>
          </p:cNvPr>
          <p:cNvSpPr/>
          <p:nvPr/>
        </p:nvSpPr>
        <p:spPr>
          <a:xfrm>
            <a:off x="3628013" y="3670067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7D264D-CD04-9BE2-A124-0B4B25A9E819}"/>
              </a:ext>
            </a:extLst>
          </p:cNvPr>
          <p:cNvSpPr/>
          <p:nvPr/>
        </p:nvSpPr>
        <p:spPr>
          <a:xfrm>
            <a:off x="5268853" y="3670067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D07C3B-BF5B-49EF-5DF2-6A1B7B9D91DD}"/>
              </a:ext>
            </a:extLst>
          </p:cNvPr>
          <p:cNvSpPr/>
          <p:nvPr/>
        </p:nvSpPr>
        <p:spPr>
          <a:xfrm>
            <a:off x="6909693" y="3670067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837F9C9-1C08-0853-4416-7C3C505A7D90}"/>
              </a:ext>
            </a:extLst>
          </p:cNvPr>
          <p:cNvSpPr/>
          <p:nvPr/>
        </p:nvSpPr>
        <p:spPr>
          <a:xfrm>
            <a:off x="8550533" y="3670067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7A812F-0B91-6CF1-3E21-3C0B33C42BB1}"/>
              </a:ext>
            </a:extLst>
          </p:cNvPr>
          <p:cNvSpPr txBox="1"/>
          <p:nvPr/>
        </p:nvSpPr>
        <p:spPr>
          <a:xfrm>
            <a:off x="2930517" y="4057342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0D5B8C-2012-D795-D717-897F148EEA63}"/>
              </a:ext>
            </a:extLst>
          </p:cNvPr>
          <p:cNvSpPr txBox="1"/>
          <p:nvPr/>
        </p:nvSpPr>
        <p:spPr>
          <a:xfrm>
            <a:off x="4571357" y="4057341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F25F94-041F-0162-7508-30E4A738AECC}"/>
              </a:ext>
            </a:extLst>
          </p:cNvPr>
          <p:cNvSpPr txBox="1"/>
          <p:nvPr/>
        </p:nvSpPr>
        <p:spPr>
          <a:xfrm>
            <a:off x="6212197" y="4057340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E72FDB-ABDE-93BB-FCAA-E17BCF70EEF5}"/>
              </a:ext>
            </a:extLst>
          </p:cNvPr>
          <p:cNvSpPr txBox="1"/>
          <p:nvPr/>
        </p:nvSpPr>
        <p:spPr>
          <a:xfrm>
            <a:off x="7853037" y="4057340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D564F8-DAEB-3A46-9BB9-39751928AD15}"/>
              </a:ext>
            </a:extLst>
          </p:cNvPr>
          <p:cNvSpPr txBox="1"/>
          <p:nvPr/>
        </p:nvSpPr>
        <p:spPr>
          <a:xfrm>
            <a:off x="7195048" y="4546352"/>
            <a:ext cx="30172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Made a mistake!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AC208D8-E0F2-DEB3-EA34-1E9CAC3AED46}"/>
              </a:ext>
            </a:extLst>
          </p:cNvPr>
          <p:cNvSpPr/>
          <p:nvPr/>
        </p:nvSpPr>
        <p:spPr>
          <a:xfrm>
            <a:off x="7253340" y="3074528"/>
            <a:ext cx="1339850" cy="416783"/>
          </a:xfrm>
          <a:custGeom>
            <a:avLst/>
            <a:gdLst>
              <a:gd name="csX0" fmla="*/ 1320800 w 1320800"/>
              <a:gd name="csY0" fmla="*/ 366036 h 416836"/>
              <a:gd name="csX1" fmla="*/ 690880 w 1320800"/>
              <a:gd name="csY1" fmla="*/ 276 h 416836"/>
              <a:gd name="csX2" fmla="*/ 0 w 1320800"/>
              <a:gd name="csY2" fmla="*/ 416836 h 416836"/>
              <a:gd name="csX0" fmla="*/ 1339850 w 1339850"/>
              <a:gd name="csY0" fmla="*/ 413608 h 416783"/>
              <a:gd name="csX1" fmla="*/ 690880 w 1339850"/>
              <a:gd name="csY1" fmla="*/ 223 h 416783"/>
              <a:gd name="csX2" fmla="*/ 0 w 1339850"/>
              <a:gd name="csY2" fmla="*/ 416783 h 416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39850" h="416783">
                <a:moveTo>
                  <a:pt x="1339850" y="413608"/>
                </a:moveTo>
                <a:cubicBezTo>
                  <a:pt x="1134956" y="226494"/>
                  <a:pt x="911013" y="-8244"/>
                  <a:pt x="690880" y="223"/>
                </a:cubicBezTo>
                <a:cubicBezTo>
                  <a:pt x="470747" y="8690"/>
                  <a:pt x="235373" y="212736"/>
                  <a:pt x="0" y="416783"/>
                </a:cubicBezTo>
              </a:path>
            </a:pathLst>
          </a:custGeom>
          <a:noFill/>
          <a:ln w="38100">
            <a:solidFill>
              <a:schemeClr val="tx2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01CEBF-1929-D564-90FC-88C1761159A6}"/>
              </a:ext>
            </a:extLst>
          </p:cNvPr>
          <p:cNvSpPr txBox="1"/>
          <p:nvPr/>
        </p:nvSpPr>
        <p:spPr>
          <a:xfrm>
            <a:off x="6414633" y="2089607"/>
            <a:ext cx="30172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Revert: undo changes in a commit</a:t>
            </a:r>
          </a:p>
        </p:txBody>
      </p:sp>
      <p:sp>
        <p:nvSpPr>
          <p:cNvPr id="21" name="Cross 20">
            <a:extLst>
              <a:ext uri="{FF2B5EF4-FFF2-40B4-BE49-F238E27FC236}">
                <a16:creationId xmlns:a16="http://schemas.microsoft.com/office/drawing/2014/main" id="{103DB7D7-B21D-5332-28EE-601AB399E2F7}"/>
              </a:ext>
            </a:extLst>
          </p:cNvPr>
          <p:cNvSpPr/>
          <p:nvPr/>
        </p:nvSpPr>
        <p:spPr>
          <a:xfrm rot="2700000">
            <a:off x="8349206" y="3468741"/>
            <a:ext cx="660833" cy="660833"/>
          </a:xfrm>
          <a:prstGeom prst="plus">
            <a:avLst>
              <a:gd name="adj" fmla="val 4324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2892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 animBg="1"/>
      <p:bldP spid="19" grpId="0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746CD-7553-21CE-986B-C3425F39E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8A1C0-6283-CD4C-39C4-93646E3AA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Exercises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F81371-9B44-5EAB-8E4B-4DFFF032BBBC}"/>
              </a:ext>
            </a:extLst>
          </p:cNvPr>
          <p:cNvSpPr txBox="1"/>
          <p:nvPr/>
        </p:nvSpPr>
        <p:spPr>
          <a:xfrm>
            <a:off x="424132" y="2890391"/>
            <a:ext cx="1134373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Follow the README instructions here: </a:t>
            </a: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github.com/ShawnHymel/workshop-intro-to-git-and-github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725817-9382-1152-5CF1-629D605A12E4}"/>
              </a:ext>
            </a:extLst>
          </p:cNvPr>
          <p:cNvSpPr txBox="1"/>
          <p:nvPr/>
        </p:nvSpPr>
        <p:spPr>
          <a:xfrm>
            <a:off x="424132" y="4628703"/>
            <a:ext cx="1134373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Do:</a:t>
            </a:r>
            <a:endParaRPr lang="en-US" sz="32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 exercise 2</a:t>
            </a:r>
          </a:p>
        </p:txBody>
      </p:sp>
    </p:spTree>
    <p:extLst>
      <p:ext uri="{BB962C8B-B14F-4D97-AF65-F5344CB8AC3E}">
        <p14:creationId xmlns:p14="http://schemas.microsoft.com/office/powerpoint/2010/main" val="1858794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A0743-B6B2-3888-BC26-2043CE18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E217E0-F7F5-6D5D-CC3E-BBF994EF4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3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B06F69-309B-F7C5-B103-91BDDD98D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Branching and Merging</a:t>
            </a:r>
          </a:p>
        </p:txBody>
      </p:sp>
    </p:spTree>
    <p:extLst>
      <p:ext uri="{BB962C8B-B14F-4D97-AF65-F5344CB8AC3E}">
        <p14:creationId xmlns:p14="http://schemas.microsoft.com/office/powerpoint/2010/main" val="8791141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CBF84-6388-125C-C1F5-4B4C6456D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D5AF-B9B7-0D31-273B-79D6FBD0D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AAAB2D-1508-EDAF-33DE-1014F5F4DDBD}"/>
              </a:ext>
            </a:extLst>
          </p:cNvPr>
          <p:cNvCxnSpPr>
            <a:cxnSpLocks/>
          </p:cNvCxnSpPr>
          <p:nvPr/>
        </p:nvCxnSpPr>
        <p:spPr>
          <a:xfrm flipH="1">
            <a:off x="3320502" y="3799159"/>
            <a:ext cx="5550995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8838224-38B7-93EF-69C5-9A078B2BE4EB}"/>
              </a:ext>
            </a:extLst>
          </p:cNvPr>
          <p:cNvSpPr/>
          <p:nvPr/>
        </p:nvSpPr>
        <p:spPr>
          <a:xfrm>
            <a:off x="3144495" y="3670067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83C81E-34F1-C828-86BC-76453E23F5DE}"/>
              </a:ext>
            </a:extLst>
          </p:cNvPr>
          <p:cNvSpPr txBox="1"/>
          <p:nvPr/>
        </p:nvSpPr>
        <p:spPr>
          <a:xfrm>
            <a:off x="2446999" y="4057342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C92758-8EF8-0605-58C0-284D49FA2DF0}"/>
              </a:ext>
            </a:extLst>
          </p:cNvPr>
          <p:cNvSpPr txBox="1"/>
          <p:nvPr/>
        </p:nvSpPr>
        <p:spPr>
          <a:xfrm>
            <a:off x="953748" y="3568325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820CF-E699-5DEE-44EF-A28E901C2D05}"/>
              </a:ext>
            </a:extLst>
          </p:cNvPr>
          <p:cNvSpPr txBox="1"/>
          <p:nvPr/>
        </p:nvSpPr>
        <p:spPr>
          <a:xfrm>
            <a:off x="354681" y="3040106"/>
            <a:ext cx="22522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name: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735243-C642-C755-B9D8-17818992F9A0}"/>
              </a:ext>
            </a:extLst>
          </p:cNvPr>
          <p:cNvSpPr txBox="1"/>
          <p:nvPr/>
        </p:nvSpPr>
        <p:spPr>
          <a:xfrm>
            <a:off x="440930" y="4954999"/>
            <a:ext cx="216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new-feature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D0A62B3-F49D-3617-F4D6-7313F4C4D75A}"/>
              </a:ext>
            </a:extLst>
          </p:cNvPr>
          <p:cNvCxnSpPr>
            <a:cxnSpLocks/>
          </p:cNvCxnSpPr>
          <p:nvPr/>
        </p:nvCxnSpPr>
        <p:spPr>
          <a:xfrm flipH="1">
            <a:off x="4732135" y="5185832"/>
            <a:ext cx="3091817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765CE1-9E9D-0A67-E373-4F8ED6099A77}"/>
              </a:ext>
            </a:extLst>
          </p:cNvPr>
          <p:cNvCxnSpPr>
            <a:cxnSpLocks/>
          </p:cNvCxnSpPr>
          <p:nvPr/>
        </p:nvCxnSpPr>
        <p:spPr>
          <a:xfrm flipH="1" flipV="1">
            <a:off x="4109138" y="3799157"/>
            <a:ext cx="622997" cy="1386674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F6C7C941-1417-6220-39E8-40B4D1BCF77D}"/>
              </a:ext>
            </a:extLst>
          </p:cNvPr>
          <p:cNvSpPr/>
          <p:nvPr/>
        </p:nvSpPr>
        <p:spPr>
          <a:xfrm>
            <a:off x="5355132" y="5056739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ADBC29-B567-FDDD-ED74-EA2E647CF361}"/>
              </a:ext>
            </a:extLst>
          </p:cNvPr>
          <p:cNvSpPr txBox="1"/>
          <p:nvPr/>
        </p:nvSpPr>
        <p:spPr>
          <a:xfrm>
            <a:off x="4657636" y="5445966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4495B69-8AD0-3E0F-6C77-5784430F5108}"/>
              </a:ext>
            </a:extLst>
          </p:cNvPr>
          <p:cNvSpPr/>
          <p:nvPr/>
        </p:nvSpPr>
        <p:spPr>
          <a:xfrm>
            <a:off x="6942772" y="5056738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E82457-76F1-C9D2-7E06-93FB4CCCDCB7}"/>
              </a:ext>
            </a:extLst>
          </p:cNvPr>
          <p:cNvSpPr txBox="1"/>
          <p:nvPr/>
        </p:nvSpPr>
        <p:spPr>
          <a:xfrm>
            <a:off x="6310810" y="5445966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5</a:t>
            </a:r>
          </a:p>
        </p:txBody>
      </p:sp>
    </p:spTree>
    <p:extLst>
      <p:ext uri="{BB962C8B-B14F-4D97-AF65-F5344CB8AC3E}">
        <p14:creationId xmlns:p14="http://schemas.microsoft.com/office/powerpoint/2010/main" val="13732745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7" grpId="0" animBg="1"/>
      <p:bldP spid="28" grpId="0"/>
      <p:bldP spid="29" grpId="0" animBg="1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AF16-48F5-5E56-D1A1-05D21EEE4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3AF3-7EFF-27E1-C163-408BF19E8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7487AC4-FE17-866C-9465-C0EE2EB6A708}"/>
              </a:ext>
            </a:extLst>
          </p:cNvPr>
          <p:cNvCxnSpPr>
            <a:cxnSpLocks/>
          </p:cNvCxnSpPr>
          <p:nvPr/>
        </p:nvCxnSpPr>
        <p:spPr>
          <a:xfrm flipH="1">
            <a:off x="3320502" y="3799159"/>
            <a:ext cx="5550995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724E2F9-50A0-C22A-53BD-DDC2B4451519}"/>
              </a:ext>
            </a:extLst>
          </p:cNvPr>
          <p:cNvSpPr/>
          <p:nvPr/>
        </p:nvSpPr>
        <p:spPr>
          <a:xfrm>
            <a:off x="3144495" y="3670067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43B2B5-6758-82CC-A815-32055F8A6CC0}"/>
              </a:ext>
            </a:extLst>
          </p:cNvPr>
          <p:cNvSpPr txBox="1"/>
          <p:nvPr/>
        </p:nvSpPr>
        <p:spPr>
          <a:xfrm>
            <a:off x="2446999" y="4057342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3678BE-8049-C4AF-E7CD-83461F468BBF}"/>
              </a:ext>
            </a:extLst>
          </p:cNvPr>
          <p:cNvSpPr txBox="1"/>
          <p:nvPr/>
        </p:nvSpPr>
        <p:spPr>
          <a:xfrm>
            <a:off x="953748" y="3568325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97D8D3-2A21-E6B7-8793-61723F52B4FE}"/>
              </a:ext>
            </a:extLst>
          </p:cNvPr>
          <p:cNvSpPr txBox="1"/>
          <p:nvPr/>
        </p:nvSpPr>
        <p:spPr>
          <a:xfrm>
            <a:off x="354681" y="3040106"/>
            <a:ext cx="22522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name: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9345E0-95A1-C92D-D9DB-B729A59349B8}"/>
              </a:ext>
            </a:extLst>
          </p:cNvPr>
          <p:cNvSpPr txBox="1"/>
          <p:nvPr/>
        </p:nvSpPr>
        <p:spPr>
          <a:xfrm>
            <a:off x="440930" y="4954999"/>
            <a:ext cx="216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new-feature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63AA3E4-45F6-97B3-696C-57F9741D4623}"/>
              </a:ext>
            </a:extLst>
          </p:cNvPr>
          <p:cNvCxnSpPr>
            <a:cxnSpLocks/>
          </p:cNvCxnSpPr>
          <p:nvPr/>
        </p:nvCxnSpPr>
        <p:spPr>
          <a:xfrm flipH="1">
            <a:off x="4732135" y="5185832"/>
            <a:ext cx="3091817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B3D790-8A49-8B1B-51F2-BFF7E2A82DE5}"/>
              </a:ext>
            </a:extLst>
          </p:cNvPr>
          <p:cNvCxnSpPr>
            <a:cxnSpLocks/>
          </p:cNvCxnSpPr>
          <p:nvPr/>
        </p:nvCxnSpPr>
        <p:spPr>
          <a:xfrm flipH="1" flipV="1">
            <a:off x="4109138" y="3799157"/>
            <a:ext cx="622997" cy="1386674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EBC98760-38FF-EFB7-08A8-0436F9B54587}"/>
              </a:ext>
            </a:extLst>
          </p:cNvPr>
          <p:cNvSpPr/>
          <p:nvPr/>
        </p:nvSpPr>
        <p:spPr>
          <a:xfrm>
            <a:off x="5355132" y="5056739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05F64F-CF62-4E54-6089-68D4C2503234}"/>
              </a:ext>
            </a:extLst>
          </p:cNvPr>
          <p:cNvSpPr txBox="1"/>
          <p:nvPr/>
        </p:nvSpPr>
        <p:spPr>
          <a:xfrm>
            <a:off x="4657636" y="5445966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85D3CB-DC0A-504C-79EE-3249FA71F13E}"/>
              </a:ext>
            </a:extLst>
          </p:cNvPr>
          <p:cNvSpPr/>
          <p:nvPr/>
        </p:nvSpPr>
        <p:spPr>
          <a:xfrm>
            <a:off x="6942772" y="5056738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59284E-E11C-CF6A-524B-9D95D566C4D3}"/>
              </a:ext>
            </a:extLst>
          </p:cNvPr>
          <p:cNvSpPr txBox="1"/>
          <p:nvPr/>
        </p:nvSpPr>
        <p:spPr>
          <a:xfrm>
            <a:off x="6310810" y="5445966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5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779F368-7F89-3ABB-91F3-D12B5CC309F5}"/>
              </a:ext>
            </a:extLst>
          </p:cNvPr>
          <p:cNvCxnSpPr>
            <a:cxnSpLocks/>
          </p:cNvCxnSpPr>
          <p:nvPr/>
        </p:nvCxnSpPr>
        <p:spPr>
          <a:xfrm flipV="1">
            <a:off x="7857683" y="3799157"/>
            <a:ext cx="622997" cy="1386674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C18CCBA-7803-A7A0-78FC-9764959E1F54}"/>
              </a:ext>
            </a:extLst>
          </p:cNvPr>
          <p:cNvSpPr/>
          <p:nvPr/>
        </p:nvSpPr>
        <p:spPr>
          <a:xfrm>
            <a:off x="8351588" y="3670064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1169D1-CF6C-9388-8669-B93C4C21F410}"/>
              </a:ext>
            </a:extLst>
          </p:cNvPr>
          <p:cNvSpPr txBox="1"/>
          <p:nvPr/>
        </p:nvSpPr>
        <p:spPr>
          <a:xfrm>
            <a:off x="7654092" y="3075164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6</a:t>
            </a:r>
          </a:p>
        </p:txBody>
      </p:sp>
    </p:spTree>
    <p:extLst>
      <p:ext uri="{BB962C8B-B14F-4D97-AF65-F5344CB8AC3E}">
        <p14:creationId xmlns:p14="http://schemas.microsoft.com/office/powerpoint/2010/main" val="6284482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B7D19-F6A1-FACC-3309-7399D0A10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ABCDC-F057-56D6-3679-3E14FBC47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DC844C-1814-CF89-0C96-2327151A484E}"/>
              </a:ext>
            </a:extLst>
          </p:cNvPr>
          <p:cNvCxnSpPr>
            <a:cxnSpLocks/>
          </p:cNvCxnSpPr>
          <p:nvPr/>
        </p:nvCxnSpPr>
        <p:spPr>
          <a:xfrm flipH="1">
            <a:off x="3320502" y="3799159"/>
            <a:ext cx="5550995" cy="0"/>
          </a:xfrm>
          <a:prstGeom prst="straightConnector1">
            <a:avLst/>
          </a:prstGeom>
          <a:ln w="50800" cap="rnd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E363FC4-F1C5-AE55-9351-F81B2B237A4B}"/>
              </a:ext>
            </a:extLst>
          </p:cNvPr>
          <p:cNvSpPr/>
          <p:nvPr/>
        </p:nvSpPr>
        <p:spPr>
          <a:xfrm>
            <a:off x="3144495" y="3670067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FFE7EF-9063-6406-BB9F-ED30F4A3D584}"/>
              </a:ext>
            </a:extLst>
          </p:cNvPr>
          <p:cNvSpPr txBox="1"/>
          <p:nvPr/>
        </p:nvSpPr>
        <p:spPr>
          <a:xfrm>
            <a:off x="2446999" y="4057342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21E78-1DAE-B65A-915D-6443F1BA82B6}"/>
              </a:ext>
            </a:extLst>
          </p:cNvPr>
          <p:cNvSpPr txBox="1"/>
          <p:nvPr/>
        </p:nvSpPr>
        <p:spPr>
          <a:xfrm>
            <a:off x="953748" y="3568325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91060-7204-88A9-F663-F7FCEC80D9D9}"/>
              </a:ext>
            </a:extLst>
          </p:cNvPr>
          <p:cNvSpPr txBox="1"/>
          <p:nvPr/>
        </p:nvSpPr>
        <p:spPr>
          <a:xfrm>
            <a:off x="354681" y="3040106"/>
            <a:ext cx="22522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 name: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5390A3F-306E-71E1-70B2-9B4344787A88}"/>
              </a:ext>
            </a:extLst>
          </p:cNvPr>
          <p:cNvSpPr/>
          <p:nvPr/>
        </p:nvSpPr>
        <p:spPr>
          <a:xfrm>
            <a:off x="5355132" y="3670065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48857F-C35B-C9C3-A97D-ECB047BC2630}"/>
              </a:ext>
            </a:extLst>
          </p:cNvPr>
          <p:cNvSpPr txBox="1"/>
          <p:nvPr/>
        </p:nvSpPr>
        <p:spPr>
          <a:xfrm>
            <a:off x="4657636" y="4059292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4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F6D0DB1-4934-EFB0-6388-3FCBDF9923EA}"/>
              </a:ext>
            </a:extLst>
          </p:cNvPr>
          <p:cNvSpPr/>
          <p:nvPr/>
        </p:nvSpPr>
        <p:spPr>
          <a:xfrm>
            <a:off x="6942772" y="3670064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C1781E-DE02-0E55-5ACE-4243ED625C50}"/>
              </a:ext>
            </a:extLst>
          </p:cNvPr>
          <p:cNvSpPr txBox="1"/>
          <p:nvPr/>
        </p:nvSpPr>
        <p:spPr>
          <a:xfrm>
            <a:off x="6310810" y="4059292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60A3377-A521-4031-A4A0-E610205E914E}"/>
              </a:ext>
            </a:extLst>
          </p:cNvPr>
          <p:cNvSpPr/>
          <p:nvPr/>
        </p:nvSpPr>
        <p:spPr>
          <a:xfrm>
            <a:off x="8351588" y="3670064"/>
            <a:ext cx="258183" cy="25818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014353-5A09-3C77-C710-6D6E103D550F}"/>
              </a:ext>
            </a:extLst>
          </p:cNvPr>
          <p:cNvSpPr txBox="1"/>
          <p:nvPr/>
        </p:nvSpPr>
        <p:spPr>
          <a:xfrm>
            <a:off x="7654092" y="3075164"/>
            <a:ext cx="165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Commit 6</a:t>
            </a:r>
          </a:p>
        </p:txBody>
      </p:sp>
    </p:spTree>
    <p:extLst>
      <p:ext uri="{BB962C8B-B14F-4D97-AF65-F5344CB8AC3E}">
        <p14:creationId xmlns:p14="http://schemas.microsoft.com/office/powerpoint/2010/main" val="1832304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B96C6-1E78-90BC-D66C-D44E46F64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89816-1054-F384-F3B5-3B050656C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Exercises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B5287-5022-71D5-79F5-0916EA262460}"/>
              </a:ext>
            </a:extLst>
          </p:cNvPr>
          <p:cNvSpPr txBox="1"/>
          <p:nvPr/>
        </p:nvSpPr>
        <p:spPr>
          <a:xfrm>
            <a:off x="424132" y="2890391"/>
            <a:ext cx="1134373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Follow the README instructions here: </a:t>
            </a: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github.com/ShawnHymel/workshop-intro-to-git-and-github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D73620-787C-6FE2-785A-803D9D55C517}"/>
              </a:ext>
            </a:extLst>
          </p:cNvPr>
          <p:cNvSpPr txBox="1"/>
          <p:nvPr/>
        </p:nvSpPr>
        <p:spPr>
          <a:xfrm>
            <a:off x="424132" y="4628703"/>
            <a:ext cx="113437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Do:</a:t>
            </a:r>
            <a:endParaRPr lang="en-US" sz="32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Hands-on exercise 3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 4</a:t>
            </a:r>
          </a:p>
        </p:txBody>
      </p:sp>
    </p:spTree>
    <p:extLst>
      <p:ext uri="{BB962C8B-B14F-4D97-AF65-F5344CB8AC3E}">
        <p14:creationId xmlns:p14="http://schemas.microsoft.com/office/powerpoint/2010/main" val="36764524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Shawn Palette #1">
      <a:dk1>
        <a:srgbClr val="000000"/>
      </a:dk1>
      <a:lt1>
        <a:srgbClr val="FFFFFF"/>
      </a:lt1>
      <a:dk2>
        <a:srgbClr val="E83F21"/>
      </a:dk2>
      <a:lt2>
        <a:srgbClr val="F9A64E"/>
      </a:lt2>
      <a:accent1>
        <a:srgbClr val="6EC1C4"/>
      </a:accent1>
      <a:accent2>
        <a:srgbClr val="497C92"/>
      </a:accent2>
      <a:accent3>
        <a:srgbClr val="1F3A61"/>
      </a:accent3>
      <a:accent4>
        <a:srgbClr val="C17A2F"/>
      </a:accent4>
      <a:accent5>
        <a:srgbClr val="B32C14"/>
      </a:accent5>
      <a:accent6>
        <a:srgbClr val="585B56"/>
      </a:accent6>
      <a:hlink>
        <a:srgbClr val="AEDEE0"/>
      </a:hlink>
      <a:folHlink>
        <a:srgbClr val="F49B8B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349</TotalTime>
  <Words>477</Words>
  <Application>Microsoft Office PowerPoint</Application>
  <PresentationFormat>Widescreen</PresentationFormat>
  <Paragraphs>103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Courier New</vt:lpstr>
      <vt:lpstr>Office Theme</vt:lpstr>
      <vt:lpstr>Intro to Git and GitHub</vt:lpstr>
      <vt:lpstr>Agenda</vt:lpstr>
      <vt:lpstr>What is it?</vt:lpstr>
      <vt:lpstr>Part 1</vt:lpstr>
      <vt:lpstr>Workflow</vt:lpstr>
      <vt:lpstr>Workflow</vt:lpstr>
      <vt:lpstr>Workflow</vt:lpstr>
      <vt:lpstr>Hands-on Exercises</vt:lpstr>
      <vt:lpstr>Part 2</vt:lpstr>
      <vt:lpstr>Revert</vt:lpstr>
      <vt:lpstr>Hands-on Exercises</vt:lpstr>
      <vt:lpstr>Part 3</vt:lpstr>
      <vt:lpstr>Branch</vt:lpstr>
      <vt:lpstr>Merge</vt:lpstr>
      <vt:lpstr>Merge</vt:lpstr>
      <vt:lpstr>Hands-on Exercises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Shawn Hymel</dc:creator>
  <cp:lastModifiedBy>Shawn Hymel</cp:lastModifiedBy>
  <cp:revision>25</cp:revision>
  <dcterms:created xsi:type="dcterms:W3CDTF">2026-02-24T15:04:00Z</dcterms:created>
  <dcterms:modified xsi:type="dcterms:W3CDTF">2026-02-25T00:58:44Z</dcterms:modified>
</cp:coreProperties>
</file>